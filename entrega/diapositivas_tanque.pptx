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1038" r:id="rId10"/>
    <p:sldId id="1039" r:id="rId11"/>
    <p:sldId id="1040" r:id="rId12"/>
    <p:sldId id="1041" r:id="rId13"/>
    <p:sldId id="1042" r:id="rId14"/>
    <p:sldId id="1043" r:id="rId15"/>
    <p:sldId id="1044" r:id="rId16"/>
    <p:sldId id="1045" r:id="rId17"/>
    <p:sldId id="1046" r:id="rId18"/>
    <p:sldId id="1047" r:id="rId19"/>
    <p:sldId id="1048" r:id="rId20"/>
    <p:sldId id="1049" r:id="rId21"/>
    <p:sldId id="1050" r:id="rId22"/>
  </p:sldIdLst>
  <p:sldSz cx="12192000" cy="6858000"/>
  <p:notesSz cx="6858000" cy="9144000"/>
  <p:defaultTextStyle>
    <a:defPPr>
      <a:defRPr lang="es-CO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3333"/>
    <a:srgbClr val="173F5F"/>
    <a:srgbClr val="F4A261"/>
    <a:srgbClr val="E9C46A"/>
    <a:srgbClr val="E76F51"/>
    <a:srgbClr val="ED7D31"/>
    <a:srgbClr val="DAB041"/>
    <a:srgbClr val="BD9237"/>
    <a:srgbClr val="2A9D8F"/>
    <a:srgbClr val="F8F6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93D81CF-94F2-401A-BA57-92F5A7B2D0C5}" styleName="Estilo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33" autoAdjust="0"/>
    <p:restoredTop sz="94624" autoAdjust="0"/>
  </p:normalViewPr>
  <p:slideViewPr>
    <p:cSldViewPr snapToGrid="0">
      <p:cViewPr varScale="1">
        <p:scale>
          <a:sx n="109" d="100"/>
          <a:sy n="109" d="100"/>
        </p:scale>
        <p:origin x="474" y="108"/>
      </p:cViewPr>
      <p:guideLst>
        <p:guide orient="horz" pos="2205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s-CO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963A18E5-A0D9-4DE9-8175-4714BA954D78}" type="datetimeFigureOut">
              <a:rPr lang="es-CO" altLang="es-CO"/>
              <a:pPr>
                <a:defRPr/>
              </a:pPr>
              <a:t>31/10/2025</a:t>
            </a:fld>
            <a:endParaRPr lang="es-CO" altLang="es-CO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CO" noProof="0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CO" noProof="0"/>
              <a:t>Editar el estilo de texto del patrón</a:t>
            </a:r>
          </a:p>
          <a:p>
            <a:pPr lvl="1"/>
            <a:r>
              <a:rPr lang="es-ES" altLang="es-CO" noProof="0"/>
              <a:t>Segundo nivel</a:t>
            </a:r>
          </a:p>
          <a:p>
            <a:pPr lvl="2"/>
            <a:r>
              <a:rPr lang="es-ES" altLang="es-CO" noProof="0"/>
              <a:t>Tercer nivel</a:t>
            </a:r>
          </a:p>
          <a:p>
            <a:pPr lvl="3"/>
            <a:r>
              <a:rPr lang="es-ES" altLang="es-CO" noProof="0"/>
              <a:t>Cuarto nivel</a:t>
            </a:r>
          </a:p>
          <a:p>
            <a:pPr lvl="4"/>
            <a:r>
              <a:rPr lang="es-ES" altLang="es-CO" noProof="0"/>
              <a:t>Quinto nivel</a:t>
            </a:r>
            <a:endParaRPr lang="es-CO" altLang="es-CO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s-CO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FC71C11-CB1F-4293-8B42-28E21BCA906D}" type="slidenum">
              <a:rPr lang="es-CO" altLang="es-CO"/>
              <a:pPr>
                <a:defRPr/>
              </a:pPr>
              <a:t>‹Nº›</a:t>
            </a:fld>
            <a:endParaRPr lang="es-CO" altLang="es-CO" dirty="0"/>
          </a:p>
        </p:txBody>
      </p:sp>
    </p:spTree>
    <p:extLst>
      <p:ext uri="{BB962C8B-B14F-4D97-AF65-F5344CB8AC3E}">
        <p14:creationId xmlns:p14="http://schemas.microsoft.com/office/powerpoint/2010/main" val="235487291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Presentación del equipo y del tema: el tanque de distribución de agua, resuelto en Simulink y con un superagente de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Dos partes: (a) Simulink, H(s) y h(t) con su comparación; (b) simulador con IA, ingeniería inversa e informe. Todo se entrega en un PDF con el enlace del simulador.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balance de masa y la ley de Torricelli dan la ecuación (10). Es no lineal por la raíz del nivel. K = 4.47 es consistente: 4.47 por raíz de 5 da 10 m³/h.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enunciado deja puntos abiertos. La decisión clave es la constante de tiempo: 1 min no es compatible con A, K y el equilibrio; el valor que sale de los datos es 10 horas.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Laplace solo aplica a ecuaciones lineales, así que se linealiza alrededor de 5 m con Taylor. Resultado: primer orden con ganancia 1 y constante de tiempo de 10 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mismo escalón alimenta dos ramas: arriba la ecuación diferencial no lineal, abajo la función de transferencia sobre la desviación. Se simuló de 0 a 50 horas.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Amarillo: ecuación no lineal. Azul: función de transferencia. La gráfica de MATLAB es la analítica y coincide con la azul, porque son el mismo modelo lineal.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Cerca de 5 m las respuestas coinciden. Al alejarse, el lineal se queda corto: 7.00 frente a 7.21 m. La resistencia de la válvula crece con el nivel.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Primero se analizó el enunciado y se tomaron las decisiones; después se escribió un único prompt para v0. El código se validó contra la teoría antes de aceptarlo.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cálculo está separado de la interfaz. Usa RK4 o Euler con paso fijo de 3 minutos. Calcula tres curvas, y la lineal y la analítica deben coincidir: eso verifica el integrador.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Demostración en vivo si hay tiempo: ejecutar con los valores por defecto y mostrar que la curva no lineal llega a 7.21 m y la lineal a 7.00 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con las cinco ideas: modelo correcto, H(s) de primer orden, límite del modelo lineal, valor del análisis previo para el superagente y verificación por ingeniería inversa.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 y preguntas. El enlace del simulador queda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2709644"/>
            <a:ext cx="9144000" cy="1663447"/>
          </a:xfrm>
        </p:spPr>
        <p:txBody>
          <a:bodyPr>
            <a:normAutofit/>
          </a:bodyPr>
          <a:lstStyle>
            <a:lvl1pPr algn="ctr">
              <a:defRPr sz="4000" b="1">
                <a:solidFill>
                  <a:srgbClr val="AD3333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4554909"/>
            <a:ext cx="9144000" cy="101054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editar el estilo de subtítulo del patrón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22012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05811" y="160027"/>
            <a:ext cx="10515600" cy="984562"/>
          </a:xfrm>
        </p:spPr>
        <p:txBody>
          <a:bodyPr anchor="t">
            <a:normAutofit/>
          </a:bodyPr>
          <a:lstStyle>
            <a:lvl1pPr>
              <a:defRPr sz="2400" b="1">
                <a:solidFill>
                  <a:srgbClr val="AD3333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33415" y="1304617"/>
            <a:ext cx="10925175" cy="5036362"/>
          </a:xfrm>
        </p:spPr>
        <p:txBody>
          <a:bodyPr/>
          <a:lstStyle>
            <a:lvl1pPr marL="0" indent="0">
              <a:buNone/>
              <a:defRPr>
                <a:latin typeface="+mn-lt"/>
                <a:cs typeface="Arial" panose="020B0604020202020204" pitchFamily="34" charset="0"/>
              </a:defRPr>
            </a:lvl1pPr>
            <a:lvl2pPr>
              <a:defRPr>
                <a:latin typeface="+mn-lt"/>
                <a:cs typeface="Arial" panose="020B0604020202020204" pitchFamily="34" charset="0"/>
              </a:defRPr>
            </a:lvl2pPr>
            <a:lvl3pPr>
              <a:defRPr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+mn-lt"/>
                <a:cs typeface="Arial" panose="020B0604020202020204" pitchFamily="34" charset="0"/>
              </a:defRPr>
            </a:lvl4pPr>
            <a:lvl5pPr>
              <a:defRPr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156356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05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49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49" y="458946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C16E0-D039-44C8-8192-BDED2ABD827A}" type="datetimeFigureOut">
              <a:rPr lang="es-CO" altLang="es-CO"/>
              <a:pPr>
                <a:defRPr/>
              </a:pPr>
              <a:t>31/10/2025</a:t>
            </a:fld>
            <a:endParaRPr lang="es-CO" altLang="es-CO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3F9D22-3D66-4249-AA17-FD6741AF4098}" type="slidenum">
              <a:rPr lang="es-CO" altLang="es-CO"/>
              <a:pPr>
                <a:defRPr/>
              </a:pPr>
              <a:t>‹Nº›</a:t>
            </a:fld>
            <a:endParaRPr lang="es-CO" altLang="es-CO" dirty="0"/>
          </a:p>
        </p:txBody>
      </p:sp>
    </p:spTree>
    <p:extLst>
      <p:ext uri="{BB962C8B-B14F-4D97-AF65-F5344CB8AC3E}">
        <p14:creationId xmlns:p14="http://schemas.microsoft.com/office/powerpoint/2010/main" val="3174218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100998-559D-4EBD-9347-6656379B4AEC}" type="datetimeFigureOut">
              <a:rPr lang="es-CO" altLang="es-CO"/>
              <a:pPr>
                <a:defRPr/>
              </a:pPr>
              <a:t>31/10/2025</a:t>
            </a:fld>
            <a:endParaRPr lang="es-CO" altLang="es-CO" dirty="0"/>
          </a:p>
        </p:txBody>
      </p:sp>
      <p:sp>
        <p:nvSpPr>
          <p:cNvPr id="6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 dirty="0"/>
          </a:p>
        </p:txBody>
      </p:sp>
      <p:sp>
        <p:nvSpPr>
          <p:cNvPr id="7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C1419D-0432-4585-A706-2226F93876C0}" type="slidenum">
              <a:rPr lang="es-CO" altLang="es-CO"/>
              <a:pPr>
                <a:defRPr/>
              </a:pPr>
              <a:t>‹Nº›</a:t>
            </a:fld>
            <a:endParaRPr lang="es-CO" altLang="es-CO" dirty="0"/>
          </a:p>
        </p:txBody>
      </p:sp>
    </p:spTree>
    <p:extLst>
      <p:ext uri="{BB962C8B-B14F-4D97-AF65-F5344CB8AC3E}">
        <p14:creationId xmlns:p14="http://schemas.microsoft.com/office/powerpoint/2010/main" val="3721703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0ECEDC-06ED-4C7C-9B03-83046E1325F6}" type="datetimeFigureOut">
              <a:rPr lang="es-CO" altLang="es-CO"/>
              <a:pPr>
                <a:defRPr/>
              </a:pPr>
              <a:t>31/10/2025</a:t>
            </a:fld>
            <a:endParaRPr lang="es-CO" altLang="es-CO" dirty="0"/>
          </a:p>
        </p:txBody>
      </p:sp>
      <p:sp>
        <p:nvSpPr>
          <p:cNvPr id="8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 dirty="0"/>
          </a:p>
        </p:txBody>
      </p:sp>
      <p:sp>
        <p:nvSpPr>
          <p:cNvPr id="9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470616-2E74-471E-AAEF-A4D337523D7F}" type="slidenum">
              <a:rPr lang="es-CO" altLang="es-CO"/>
              <a:pPr>
                <a:defRPr/>
              </a:pPr>
              <a:t>‹Nº›</a:t>
            </a:fld>
            <a:endParaRPr lang="es-CO" altLang="es-CO" dirty="0"/>
          </a:p>
        </p:txBody>
      </p:sp>
    </p:spTree>
    <p:extLst>
      <p:ext uri="{BB962C8B-B14F-4D97-AF65-F5344CB8AC3E}">
        <p14:creationId xmlns:p14="http://schemas.microsoft.com/office/powerpoint/2010/main" val="2989303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BF25C1-17BB-4366-890E-F326F3BED209}" type="datetimeFigureOut">
              <a:rPr lang="es-CO" altLang="es-CO"/>
              <a:pPr>
                <a:defRPr/>
              </a:pPr>
              <a:t>31/10/2025</a:t>
            </a:fld>
            <a:endParaRPr lang="es-CO" altLang="es-CO" dirty="0"/>
          </a:p>
        </p:txBody>
      </p:sp>
      <p:sp>
        <p:nvSpPr>
          <p:cNvPr id="4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 dirty="0"/>
          </a:p>
        </p:txBody>
      </p:sp>
      <p:sp>
        <p:nvSpPr>
          <p:cNvPr id="5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FE7D14-50C1-4B66-A5F4-D9657C158CA5}" type="slidenum">
              <a:rPr lang="es-CO" altLang="es-CO"/>
              <a:pPr>
                <a:defRPr/>
              </a:pPr>
              <a:t>‹Nº›</a:t>
            </a:fld>
            <a:endParaRPr lang="es-CO" altLang="es-CO" dirty="0"/>
          </a:p>
        </p:txBody>
      </p:sp>
    </p:spTree>
    <p:extLst>
      <p:ext uri="{BB962C8B-B14F-4D97-AF65-F5344CB8AC3E}">
        <p14:creationId xmlns:p14="http://schemas.microsoft.com/office/powerpoint/2010/main" val="1048338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D9A324-A69E-4F9E-8265-9E809888D80A}" type="datetimeFigureOut">
              <a:rPr lang="es-CO" altLang="es-CO"/>
              <a:pPr>
                <a:defRPr/>
              </a:pPr>
              <a:t>31/10/2025</a:t>
            </a:fld>
            <a:endParaRPr lang="es-CO" altLang="es-CO" dirty="0"/>
          </a:p>
        </p:txBody>
      </p:sp>
      <p:sp>
        <p:nvSpPr>
          <p:cNvPr id="6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 dirty="0"/>
          </a:p>
        </p:txBody>
      </p:sp>
      <p:sp>
        <p:nvSpPr>
          <p:cNvPr id="7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6040C8-FB79-4E6D-A221-B9C004F27102}" type="slidenum">
              <a:rPr lang="es-CO" altLang="es-CO"/>
              <a:pPr>
                <a:defRPr/>
              </a:pPr>
              <a:t>‹Nº›</a:t>
            </a:fld>
            <a:endParaRPr lang="es-CO" altLang="es-CO" dirty="0"/>
          </a:p>
        </p:txBody>
      </p:sp>
    </p:spTree>
    <p:extLst>
      <p:ext uri="{BB962C8B-B14F-4D97-AF65-F5344CB8AC3E}">
        <p14:creationId xmlns:p14="http://schemas.microsoft.com/office/powerpoint/2010/main" val="229488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CO" noProof="0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0B7F63-9348-4FED-9EED-D818C16FCE77}" type="datetimeFigureOut">
              <a:rPr lang="es-CO" altLang="es-CO"/>
              <a:pPr>
                <a:defRPr/>
              </a:pPr>
              <a:t>31/10/2025</a:t>
            </a:fld>
            <a:endParaRPr lang="es-CO" altLang="es-CO" dirty="0"/>
          </a:p>
        </p:txBody>
      </p:sp>
      <p:sp>
        <p:nvSpPr>
          <p:cNvPr id="6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 dirty="0"/>
          </a:p>
        </p:txBody>
      </p:sp>
      <p:sp>
        <p:nvSpPr>
          <p:cNvPr id="7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00772A-1E30-40C1-8DA4-4C4BD7994531}" type="slidenum">
              <a:rPr lang="es-CO" altLang="es-CO"/>
              <a:pPr>
                <a:defRPr/>
              </a:pPr>
              <a:t>‹Nº›</a:t>
            </a:fld>
            <a:endParaRPr lang="es-CO" altLang="es-CO" dirty="0"/>
          </a:p>
        </p:txBody>
      </p:sp>
    </p:spTree>
    <p:extLst>
      <p:ext uri="{BB962C8B-B14F-4D97-AF65-F5344CB8AC3E}">
        <p14:creationId xmlns:p14="http://schemas.microsoft.com/office/powerpoint/2010/main" val="365709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2DA6CB-D3E4-4B23-BD2C-29898E8E8D0A}" type="datetimeFigureOut">
              <a:rPr lang="es-CO" altLang="es-CO"/>
              <a:pPr>
                <a:defRPr/>
              </a:pPr>
              <a:t>31/10/2025</a:t>
            </a:fld>
            <a:endParaRPr lang="es-CO" altLang="es-CO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ED8EA2-5042-4875-A37A-6744D37E4262}" type="slidenum">
              <a:rPr lang="es-CO" altLang="es-CO"/>
              <a:pPr>
                <a:defRPr/>
              </a:pPr>
              <a:t>‹Nº›</a:t>
            </a:fld>
            <a:endParaRPr lang="es-CO" altLang="es-CO" dirty="0"/>
          </a:p>
        </p:txBody>
      </p:sp>
    </p:spTree>
    <p:extLst>
      <p:ext uri="{BB962C8B-B14F-4D97-AF65-F5344CB8AC3E}">
        <p14:creationId xmlns:p14="http://schemas.microsoft.com/office/powerpoint/2010/main" val="2943602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97366A-F3A6-4CC4-B840-9EDE02E74CD2}" type="datetimeFigureOut">
              <a:rPr lang="es-CO" altLang="es-CO"/>
              <a:pPr>
                <a:defRPr/>
              </a:pPr>
              <a:t>31/10/2025</a:t>
            </a:fld>
            <a:endParaRPr lang="es-CO" altLang="es-CO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FE0346-D625-4449-9F82-2DA76696FDB3}" type="slidenum">
              <a:rPr lang="es-CO" altLang="es-CO"/>
              <a:pPr>
                <a:defRPr/>
              </a:pPr>
              <a:t>‹Nº›</a:t>
            </a:fld>
            <a:endParaRPr lang="es-CO" altLang="es-CO" dirty="0"/>
          </a:p>
        </p:txBody>
      </p:sp>
    </p:spTree>
    <p:extLst>
      <p:ext uri="{BB962C8B-B14F-4D97-AF65-F5344CB8AC3E}">
        <p14:creationId xmlns:p14="http://schemas.microsoft.com/office/powerpoint/2010/main" val="279179651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Marcador de título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CO"/>
              <a:t>Haga clic para modificar el estilo de título del patrón</a:t>
            </a:r>
            <a:endParaRPr lang="es-CO" altLang="es-CO"/>
          </a:p>
        </p:txBody>
      </p:sp>
      <p:sp>
        <p:nvSpPr>
          <p:cNvPr id="1027" name="Marcador de texto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CO"/>
              <a:t>Editar el estilo de texto del patrón</a:t>
            </a:r>
          </a:p>
          <a:p>
            <a:pPr lvl="1"/>
            <a:r>
              <a:rPr lang="es-ES" altLang="es-CO"/>
              <a:t>Segundo nivel</a:t>
            </a:r>
          </a:p>
          <a:p>
            <a:pPr lvl="2"/>
            <a:r>
              <a:rPr lang="es-ES" altLang="es-CO"/>
              <a:t>Tercer nivel</a:t>
            </a:r>
          </a:p>
          <a:p>
            <a:pPr lvl="3"/>
            <a:r>
              <a:rPr lang="es-ES" altLang="es-CO"/>
              <a:t>Cuarto nivel</a:t>
            </a:r>
          </a:p>
          <a:p>
            <a:pPr lvl="4"/>
            <a:r>
              <a:rPr lang="es-ES" altLang="es-CO"/>
              <a:t>Quinto nivel</a:t>
            </a:r>
            <a:endParaRPr lang="es-CO" alt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73F7A46F-03D8-4E44-98A7-21D921D8A9B6}" type="datetimeFigureOut">
              <a:rPr lang="es-CO" altLang="es-CO"/>
              <a:pPr>
                <a:defRPr/>
              </a:pPr>
              <a:t>31/10/2025</a:t>
            </a:fld>
            <a:endParaRPr lang="es-CO" altLang="es-CO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s-CO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E5FBB4E2-C74A-4947-B3B8-AA5F80113A4E}" type="slidenum">
              <a:rPr lang="es-CO" altLang="es-CO"/>
              <a:pPr>
                <a:defRPr/>
              </a:pPr>
              <a:t>‹Nº›</a:t>
            </a:fld>
            <a:endParaRPr lang="es-CO" altLang="es-CO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6" r:id="rId1"/>
    <p:sldLayoutId id="2147483997" r:id="rId2"/>
    <p:sldLayoutId id="2147483991" r:id="rId3"/>
    <p:sldLayoutId id="2147483987" r:id="rId4"/>
    <p:sldLayoutId id="2147483988" r:id="rId5"/>
    <p:sldLayoutId id="2147483989" r:id="rId6"/>
    <p:sldLayoutId id="2147483990" r:id="rId7"/>
    <p:sldLayoutId id="2147483992" r:id="rId8"/>
    <p:sldLayoutId id="2147483993" r:id="rId9"/>
    <p:sldLayoutId id="2147483994" r:id="rId10"/>
    <p:sldLayoutId id="2147483995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anose="020B0600070205080204" pitchFamily="34" charset="-128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  <a:ea typeface="MS PGothic" panose="020B0600070205080204" pitchFamily="34" charset="-128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  <a:ea typeface="MS PGothic" panose="020B0600070205080204" pitchFamily="34" charset="-128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  <a:ea typeface="MS PGothic" panose="020B0600070205080204" pitchFamily="34" charset="-128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  <a:ea typeface="MS PGothic" panose="020B0600070205080204" pitchFamily="34" charset="-128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Relationship Id="rId4" Type="http://schemas.openxmlformats.org/officeDocument/2006/relationships/image" Target="../media/image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tanque-six.vercel.app/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tanque-six.vercel.app/" TargetMode="External"/><Relationship Id="rId3" Type="http://schemas.openxmlformats.org/officeDocument/2006/relationships/notesSlide" Target="../notesSlides/notesSlide13.xml"/></Relationships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487168"/>
            <a:ext cx="9445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 spc="300">
                <a:solidFill>
                  <a:srgbClr val="1F3864"/>
                </a:solidFill>
                <a:latin typeface="Carlito"/>
              </a:rPr>
              <a:t>UNIVERSIDAD DE PAMPLONA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852928"/>
            <a:ext cx="9445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 i="0" spc="300">
                <a:solidFill>
                  <a:srgbClr val="B03535"/>
                </a:solidFill>
                <a:latin typeface="Carlito"/>
              </a:rPr>
              <a:t>TRABAJO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15468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 i="0">
                <a:solidFill>
                  <a:srgbClr val="B03535"/>
                </a:solidFill>
                <a:latin typeface="Noto Serif"/>
              </a:rPr>
              <a:t>Modelado y simulación de un tanque</a:t>
            </a:r>
          </a:p>
          <a:p>
            <a:pPr algn="ctr">
              <a:spcAft>
                <a:spcPts val="0"/>
              </a:spcAft>
            </a:pPr>
            <a:r>
              <a:rPr sz="3200" b="1" i="0">
                <a:solidFill>
                  <a:srgbClr val="B03535"/>
                </a:solidFill>
                <a:latin typeface="Noto Serif"/>
              </a:rPr>
              <a:t>de distribución de agua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15968"/>
            <a:ext cx="9445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1F3864"/>
                </a:solidFill>
                <a:latin typeface="Carlito"/>
              </a:rPr>
              <a:t>Modelado y simulación de sistemas continuos  ·  Simulink y superagente de 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4560" y="4663440"/>
            <a:ext cx="7799831" cy="10972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4754880"/>
            <a:ext cx="779983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Carlito"/>
              </a:rPr>
              <a:t>Yenderson Josué Rangel Martínez  ·  Kevin Sebastian Medina Nava</a:t>
            </a:r>
          </a:p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Carlito"/>
              </a:rPr>
              <a:t>Cristian Julián Camargo García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5413248"/>
            <a:ext cx="77998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6B6B6B"/>
                </a:solidFill>
                <a:latin typeface="Carlito"/>
              </a:rPr>
              <a:t>9 de octubre de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 spc="300">
                <a:solidFill>
                  <a:srgbClr val="1F3864"/>
                </a:solidFill>
                <a:latin typeface="Carlito"/>
              </a:rPr>
              <a:t>TRABAJO 3 ·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B03535"/>
                </a:solidFill>
                <a:latin typeface="Noto Serif"/>
              </a:rPr>
              <a:t>Qué pide el trabajo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9963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B6B6B"/>
                </a:solidFill>
                <a:latin typeface="Carlito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11064240" cy="1005840"/>
          </a:xfrm>
          <a:prstGeom prst="roundRect">
            <a:avLst>
              <a:gd name="adj" fmla="val 4000"/>
            </a:avLst>
          </a:prstGeom>
          <a:solidFill>
            <a:srgbClr val="FBF1F1"/>
          </a:solidFill>
          <a:ln w="19050">
            <a:solidFill>
              <a:srgbClr val="B03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46504"/>
            <a:ext cx="106619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B03535"/>
                </a:solidFill>
                <a:latin typeface="Noto Serif"/>
              </a:rPr>
              <a:t>Objetivo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130552"/>
            <a:ext cx="106619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333333"/>
                </a:solidFill>
                <a:latin typeface="Carlito"/>
              </a:rPr>
              <a:t>Modelar, simular y analizar un tanque de distribución de agua por dos caminos y comparar los resultados.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34640"/>
            <a:ext cx="5394960" cy="210312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980944"/>
            <a:ext cx="4992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B03535"/>
                </a:solidFill>
                <a:latin typeface="Noto Serif"/>
              </a:rPr>
              <a:t>Parte (a) · Simulink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364992"/>
            <a:ext cx="4992624" cy="1463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500" b="0" i="0">
                <a:solidFill>
                  <a:srgbClr val="333333"/>
                </a:solidFill>
                <a:latin typeface="Carlito"/>
              </a:rPr>
              <a:t>Simular la ecuación diferencial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500" b="0" i="0">
                <a:solidFill>
                  <a:srgbClr val="333333"/>
                </a:solidFill>
                <a:latin typeface="Carlito"/>
              </a:rPr>
              <a:t>Obtener H(s)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500" b="0" i="0">
                <a:solidFill>
                  <a:srgbClr val="333333"/>
                </a:solidFill>
                <a:latin typeface="Carlito"/>
              </a:rPr>
              <a:t>Obtener h(t) por transformada inversa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500" b="0" i="0">
                <a:solidFill>
                  <a:srgbClr val="333333"/>
                </a:solidFill>
                <a:latin typeface="Carlito"/>
              </a:rPr>
              <a:t>Comparar las tres respuestas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834640"/>
            <a:ext cx="5394960" cy="210312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2980944"/>
            <a:ext cx="4992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B03535"/>
                </a:solidFill>
                <a:latin typeface="Noto Serif"/>
              </a:rPr>
              <a:t>Parte (b) · Superagente de 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3364992"/>
            <a:ext cx="4992624" cy="1463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500" b="0" i="0">
                <a:solidFill>
                  <a:srgbClr val="333333"/>
                </a:solidFill>
                <a:latin typeface="Carlito"/>
              </a:rPr>
              <a:t>Generar el simulador con IA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500" b="0" i="0">
                <a:solidFill>
                  <a:srgbClr val="333333"/>
                </a:solidFill>
                <a:latin typeface="Carlito"/>
              </a:rPr>
              <a:t>Hacer la ingeniería inversa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500" b="0" i="0">
                <a:solidFill>
                  <a:srgbClr val="333333"/>
                </a:solidFill>
                <a:latin typeface="Carlito"/>
              </a:rPr>
              <a:t>Documentar prompts y proceso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500" b="0" i="0">
                <a:solidFill>
                  <a:srgbClr val="333333"/>
                </a:solidFill>
                <a:latin typeface="Carlito"/>
              </a:rPr>
              <a:t>Publicar un enlace ejecutable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230368"/>
            <a:ext cx="14630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B03535"/>
                </a:solidFill>
                <a:latin typeface="Noto Serif"/>
              </a:rPr>
              <a:t>Entregables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03120" y="5230368"/>
            <a:ext cx="3017520" cy="41148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rlito"/>
              </a:rPr>
              <a:t>Informe y diapositivas en un PDF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5230368"/>
            <a:ext cx="3017520" cy="41148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rlito"/>
              </a:rPr>
              <a:t>Enlace del simulador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20" y="5230368"/>
            <a:ext cx="3017520" cy="41148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rlito"/>
              </a:rPr>
              <a:t>Exposición de 10 minutos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 spc="300">
                <a:solidFill>
                  <a:srgbClr val="1F3864"/>
                </a:solidFill>
                <a:latin typeface="Carlito"/>
              </a:rPr>
              <a:t>PARTE A · MODELO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B03535"/>
                </a:solidFill>
                <a:latin typeface="Noto Serif"/>
              </a:rPr>
              <a:t>Modelo matemático del proceso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9963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B6B6B"/>
                </a:solidFill>
                <a:latin typeface="Carlito"/>
              </a:rPr>
              <a:t>3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3931920" cy="2961383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4617720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6B6B6B"/>
                </a:solidFill>
                <a:latin typeface="Carlito"/>
              </a:rPr>
              <a:t>Figura del enunciado: tanque con entrada Q</a:t>
            </a:r>
            <a:r>
              <a:rPr sz="1100" b="0" i="1" baseline="-25000">
                <a:solidFill>
                  <a:srgbClr val="6B6B6B"/>
                </a:solidFill>
                <a:latin typeface="Carlito"/>
              </a:rPr>
              <a:t>i</a:t>
            </a:r>
            <a:r>
              <a:rPr sz="1100" b="0" i="1">
                <a:solidFill>
                  <a:srgbClr val="6B6B6B"/>
                </a:solidFill>
                <a:latin typeface="Carlito"/>
              </a:rPr>
              <a:t> y salida por válvula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600200"/>
            <a:ext cx="3246120" cy="1143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47488" y="1746504"/>
            <a:ext cx="28437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B03535"/>
                </a:solidFill>
                <a:latin typeface="Noto Serif"/>
              </a:rPr>
              <a:t>Balance de masa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7488" y="2130552"/>
            <a:ext cx="2843784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333333"/>
                </a:solidFill>
                <a:latin typeface="Carlito"/>
              </a:rPr>
              <a:t>A · dh/dt = Q</a:t>
            </a:r>
            <a:r>
              <a:rPr sz="1400" b="0" i="0" baseline="-25000">
                <a:solidFill>
                  <a:srgbClr val="333333"/>
                </a:solidFill>
                <a:latin typeface="Carlito"/>
              </a:rPr>
              <a:t>i</a:t>
            </a:r>
            <a:r>
              <a:rPr sz="1400" b="0" i="0">
                <a:solidFill>
                  <a:srgbClr val="333333"/>
                </a:solidFill>
                <a:latin typeface="Carlito"/>
              </a:rPr>
              <a:t> − Q</a:t>
            </a:r>
            <a:r>
              <a:rPr sz="1400" b="0" i="0" baseline="-25000">
                <a:solidFill>
                  <a:srgbClr val="333333"/>
                </a:solidFill>
                <a:latin typeface="Carlito"/>
              </a:rPr>
              <a:t>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1600200"/>
            <a:ext cx="3246120" cy="1143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67928" y="1746504"/>
            <a:ext cx="28437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B03535"/>
                </a:solidFill>
                <a:latin typeface="Noto Serif"/>
              </a:rPr>
              <a:t>Ley de Torricelli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67928" y="2130552"/>
            <a:ext cx="2843784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333333"/>
                </a:solidFill>
                <a:latin typeface="Carlito"/>
              </a:rPr>
              <a:t>Q</a:t>
            </a:r>
            <a:r>
              <a:rPr sz="1400" b="0" i="0" baseline="-25000">
                <a:solidFill>
                  <a:srgbClr val="333333"/>
                </a:solidFill>
                <a:latin typeface="Carlito"/>
              </a:rPr>
              <a:t>o</a:t>
            </a:r>
            <a:r>
              <a:rPr sz="1400" b="0" i="0">
                <a:solidFill>
                  <a:srgbClr val="333333"/>
                </a:solidFill>
                <a:latin typeface="Carlito"/>
              </a:rPr>
              <a:t> = K · √h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2971800"/>
            <a:ext cx="6766560" cy="1371600"/>
          </a:xfrm>
          <a:prstGeom prst="roundRect">
            <a:avLst>
              <a:gd name="adj" fmla="val 4000"/>
            </a:avLst>
          </a:prstGeom>
          <a:solidFill>
            <a:srgbClr val="FBF1F1"/>
          </a:solidFill>
          <a:ln w="19050">
            <a:solidFill>
              <a:srgbClr val="B03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47488" y="3118104"/>
            <a:ext cx="63642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B03535"/>
                </a:solidFill>
                <a:latin typeface="Noto Serif"/>
              </a:rPr>
              <a:t>Ecuación del proceso (10)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520440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 i="0">
                <a:solidFill>
                  <a:srgbClr val="1F3864"/>
                </a:solidFill>
                <a:latin typeface="Carlito"/>
              </a:rPr>
              <a:t>dh/dt = Q</a:t>
            </a:r>
            <a:r>
              <a:rPr sz="2400" b="1" i="0" baseline="-25000">
                <a:solidFill>
                  <a:srgbClr val="1F3864"/>
                </a:solidFill>
                <a:latin typeface="Carlito"/>
              </a:rPr>
              <a:t>i</a:t>
            </a:r>
            <a:r>
              <a:rPr sz="2400" b="1" i="0">
                <a:solidFill>
                  <a:srgbClr val="1F3864"/>
                </a:solidFill>
                <a:latin typeface="Carlito"/>
              </a:rPr>
              <a:t> / A − (K / A) · √h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4617720"/>
            <a:ext cx="1280160" cy="41148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rlito"/>
              </a:rPr>
              <a:t>A = 10 m²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617720"/>
            <a:ext cx="1280160" cy="41148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rlito"/>
              </a:rPr>
              <a:t>K = 4.47 m</a:t>
            </a:r>
            <a:r>
              <a:rPr sz="1200" b="1" i="0" baseline="30000">
                <a:solidFill>
                  <a:srgbClr val="FFFFFF"/>
                </a:solidFill>
                <a:latin typeface="Carlito"/>
              </a:rPr>
              <a:t>2.5</a:t>
            </a:r>
            <a:r>
              <a:rPr sz="1200" b="1" i="0">
                <a:solidFill>
                  <a:srgbClr val="FFFFFF"/>
                </a:solidFill>
                <a:latin typeface="Carlito"/>
              </a:rPr>
              <a:t>/h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4617720"/>
            <a:ext cx="1280160" cy="41148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rlito"/>
              </a:rPr>
              <a:t>H = 10 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4617720"/>
            <a:ext cx="1280160" cy="41148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rlito"/>
              </a:rPr>
              <a:t>h</a:t>
            </a:r>
            <a:r>
              <a:rPr sz="1200" b="1" i="0" baseline="-25000">
                <a:solidFill>
                  <a:srgbClr val="FFFFFF"/>
                </a:solidFill>
                <a:latin typeface="Carlito"/>
              </a:rPr>
              <a:t>e</a:t>
            </a:r>
            <a:r>
              <a:rPr sz="1200" b="1" i="0">
                <a:solidFill>
                  <a:srgbClr val="FFFFFF"/>
                </a:solidFill>
                <a:latin typeface="Carlito"/>
              </a:rPr>
              <a:t> = 5 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332720" y="4617720"/>
            <a:ext cx="1280160" cy="41148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rlito"/>
              </a:rPr>
              <a:t>Q</a:t>
            </a:r>
            <a:r>
              <a:rPr sz="1200" b="1" i="0" baseline="-25000">
                <a:solidFill>
                  <a:srgbClr val="FFFFFF"/>
                </a:solidFill>
                <a:latin typeface="Carlito"/>
              </a:rPr>
              <a:t>e</a:t>
            </a:r>
            <a:r>
              <a:rPr sz="1200" b="1" i="0">
                <a:solidFill>
                  <a:srgbClr val="FFFFFF"/>
                </a:solidFill>
                <a:latin typeface="Carlito"/>
              </a:rPr>
              <a:t> = 10 m³/h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5193792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1F3864"/>
                </a:solidFill>
                <a:latin typeface="Carlito"/>
              </a:rPr>
              <a:t>No lineal: el caudal de salida depende de la raíz del nivel.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 spc="300">
                <a:solidFill>
                  <a:srgbClr val="1F3864"/>
                </a:solidFill>
                <a:latin typeface="Carlito"/>
              </a:rPr>
              <a:t>PARTE A · ANÁLISIS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B03535"/>
                </a:solidFill>
                <a:latin typeface="Noto Serif"/>
              </a:rPr>
              <a:t>Decisiones sobre el enunciado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9963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B6B6B"/>
                </a:solidFill>
                <a:latin typeface="Carlito"/>
              </a:rP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783080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rlit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1837943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B03535"/>
                </a:solidFill>
                <a:latin typeface="Noto Serif"/>
              </a:rPr>
              <a:t>Ecuación (5)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350008"/>
            <a:ext cx="2926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333333"/>
                </a:solidFill>
                <a:latin typeface="Carlito"/>
              </a:rPr>
              <a:t>Imprime dV/dt; se usa dh/dt, que lleva a la ecuación (10).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1600200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51960" y="1783080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rlito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2312" y="1837943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B03535"/>
                </a:solidFill>
                <a:latin typeface="Noto Serif"/>
              </a:rPr>
              <a:t>Unidades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0248" y="2350008"/>
            <a:ext cx="2926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333333"/>
                </a:solidFill>
                <a:latin typeface="Carlito"/>
              </a:rPr>
              <a:t>Tiempo en horas y K en m</a:t>
            </a:r>
            <a:r>
              <a:rPr sz="1400" b="0" i="0" baseline="30000">
                <a:solidFill>
                  <a:srgbClr val="333333"/>
                </a:solidFill>
                <a:latin typeface="Carlito"/>
              </a:rPr>
              <a:t>2.5</a:t>
            </a:r>
            <a:r>
              <a:rPr sz="1400" b="0" i="0">
                <a:solidFill>
                  <a:srgbClr val="333333"/>
                </a:solidFill>
                <a:latin typeface="Carlito"/>
              </a:rPr>
              <a:t>/h. La densidad se cancela.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611880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3794760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rlito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3849624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B03535"/>
                </a:solidFill>
                <a:latin typeface="Noto Serif"/>
              </a:rPr>
              <a:t>Condiciones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361688"/>
            <a:ext cx="2926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333333"/>
                </a:solidFill>
                <a:latin typeface="Carlito"/>
              </a:rPr>
              <a:t>h(0) = 5 m, escalón de 10 a 12 m³/h y 50 h de simulación.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69080" y="3611880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51960" y="3794760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rlit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82312" y="3849624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B03535"/>
                </a:solidFill>
                <a:latin typeface="Noto Serif"/>
              </a:rPr>
              <a:t>Límites físicos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0248" y="4361688"/>
            <a:ext cx="2926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333333"/>
                </a:solidFill>
                <a:latin typeface="Carlito"/>
              </a:rPr>
              <a:t>0 ≤ h ≤ H y raíz protegida con √max(h, 0).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1600200"/>
            <a:ext cx="3749039" cy="3840480"/>
          </a:xfrm>
          <a:prstGeom prst="roundRect">
            <a:avLst>
              <a:gd name="adj" fmla="val 4000"/>
            </a:avLst>
          </a:prstGeom>
          <a:solidFill>
            <a:srgbClr val="FBF1F1"/>
          </a:solidFill>
          <a:ln w="19050">
            <a:solidFill>
              <a:srgbClr val="B03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65008" y="1746504"/>
            <a:ext cx="33467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B03535"/>
                </a:solidFill>
                <a:latin typeface="Noto Serif"/>
              </a:rPr>
              <a:t>Constante de tiempo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65008" y="2194560"/>
            <a:ext cx="33467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1F3864"/>
                </a:solidFill>
                <a:latin typeface="Noto Serif"/>
              </a:rPr>
              <a:t>10 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65008" y="2926080"/>
            <a:ext cx="33467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B6B6B"/>
                </a:solidFill>
                <a:latin typeface="Carlito"/>
              </a:rPr>
              <a:t>y no 1 min, como dice el enunciado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65008" y="3429000"/>
            <a:ext cx="3346704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33333"/>
                </a:solidFill>
                <a:latin typeface="Carlito"/>
              </a:rPr>
              <a:t>τ = 2A√h</a:t>
            </a:r>
            <a:r>
              <a:rPr sz="1400" b="0" i="0" baseline="-25000">
                <a:solidFill>
                  <a:srgbClr val="333333"/>
                </a:solidFill>
                <a:latin typeface="Carlito"/>
              </a:rPr>
              <a:t>e</a:t>
            </a:r>
            <a:r>
              <a:rPr sz="1400" b="0" i="0">
                <a:solidFill>
                  <a:srgbClr val="333333"/>
                </a:solidFill>
                <a:latin typeface="Carlito"/>
              </a:rPr>
              <a:t> / K ≈ 10 h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33333"/>
                </a:solidFill>
                <a:latin typeface="Carlito"/>
              </a:rPr>
              <a:t>Con 1 min haría falta K ≈ 2683 y un caudal de equilibrio de 6000 m³/h.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33333"/>
                </a:solidFill>
                <a:latin typeface="Carlito"/>
              </a:rPr>
              <a:t>La ecuación (10) solo depende de A y 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 spc="300">
                <a:solidFill>
                  <a:srgbClr val="1F3864"/>
                </a:solidFill>
                <a:latin typeface="Carlito"/>
              </a:rPr>
              <a:t>PARTE A · H(S)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B03535"/>
                </a:solidFill>
                <a:latin typeface="Noto Serif"/>
              </a:rPr>
              <a:t>Linealización y función de transferencia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9963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B6B6B"/>
                </a:solidFill>
                <a:latin typeface="Carlito"/>
              </a:rPr>
              <a:t>5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645920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rlit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700784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B03535"/>
                </a:solidFill>
                <a:latin typeface="Carlito"/>
              </a:rPr>
              <a:t>Punto de operación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93008" y="1700784"/>
            <a:ext cx="400507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333333"/>
                </a:solidFill>
                <a:latin typeface="Carlito"/>
              </a:rPr>
              <a:t>h</a:t>
            </a:r>
            <a:r>
              <a:rPr sz="1400" b="0" i="0" baseline="-25000">
                <a:solidFill>
                  <a:srgbClr val="333333"/>
                </a:solidFill>
                <a:latin typeface="Carlito"/>
              </a:rPr>
              <a:t>e</a:t>
            </a:r>
            <a:r>
              <a:rPr sz="1400" b="0" i="0">
                <a:solidFill>
                  <a:srgbClr val="333333"/>
                </a:solidFill>
                <a:latin typeface="Carlito"/>
              </a:rPr>
              <a:t> = 5 m, Q</a:t>
            </a:r>
            <a:r>
              <a:rPr sz="1400" b="0" i="0" baseline="-25000">
                <a:solidFill>
                  <a:srgbClr val="333333"/>
                </a:solidFill>
                <a:latin typeface="Carlito"/>
              </a:rPr>
              <a:t>e</a:t>
            </a:r>
            <a:r>
              <a:rPr sz="1400" b="0" i="0">
                <a:solidFill>
                  <a:srgbClr val="333333"/>
                </a:solidFill>
                <a:latin typeface="Carlito"/>
              </a:rPr>
              <a:t> = 10 m³/h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432304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rlito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48716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B03535"/>
                </a:solidFill>
                <a:latin typeface="Carlito"/>
              </a:rPr>
              <a:t>Serie de Taylor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3008" y="2487168"/>
            <a:ext cx="400507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333333"/>
                </a:solidFill>
                <a:latin typeface="Carlito"/>
              </a:rPr>
              <a:t>√h ≈ √h</a:t>
            </a:r>
            <a:r>
              <a:rPr sz="1400" b="0" i="0" baseline="-25000">
                <a:solidFill>
                  <a:srgbClr val="333333"/>
                </a:solidFill>
                <a:latin typeface="Carlito"/>
              </a:rPr>
              <a:t>e</a:t>
            </a:r>
            <a:r>
              <a:rPr sz="1400" b="0" i="0">
                <a:solidFill>
                  <a:srgbClr val="333333"/>
                </a:solidFill>
                <a:latin typeface="Carlito"/>
              </a:rPr>
              <a:t> + (h − h</a:t>
            </a:r>
            <a:r>
              <a:rPr sz="1400" b="0" i="0" baseline="-25000">
                <a:solidFill>
                  <a:srgbClr val="333333"/>
                </a:solidFill>
                <a:latin typeface="Carlito"/>
              </a:rPr>
              <a:t>e</a:t>
            </a:r>
            <a:r>
              <a:rPr sz="1400" b="0" i="0">
                <a:solidFill>
                  <a:srgbClr val="333333"/>
                </a:solidFill>
                <a:latin typeface="Carlito"/>
              </a:rPr>
              <a:t>) / (2√h</a:t>
            </a:r>
            <a:r>
              <a:rPr sz="1400" b="0" i="0" baseline="-25000">
                <a:solidFill>
                  <a:srgbClr val="333333"/>
                </a:solidFill>
                <a:latin typeface="Carlito"/>
              </a:rPr>
              <a:t>e</a:t>
            </a:r>
            <a:r>
              <a:rPr sz="1400" b="0" i="0">
                <a:solidFill>
                  <a:srgbClr val="333333"/>
                </a:solidFill>
                <a:latin typeface="Carlito"/>
              </a:rPr>
              <a:t>)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218688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rlito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27355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B03535"/>
                </a:solidFill>
                <a:latin typeface="Carlito"/>
              </a:rPr>
              <a:t>Variables de desviación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3273552"/>
            <a:ext cx="400507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333333"/>
                </a:solidFill>
                <a:latin typeface="Carlito"/>
              </a:rPr>
              <a:t>h′ = h − h</a:t>
            </a:r>
            <a:r>
              <a:rPr sz="1400" b="0" i="0" baseline="-25000">
                <a:solidFill>
                  <a:srgbClr val="333333"/>
                </a:solidFill>
                <a:latin typeface="Carlito"/>
              </a:rPr>
              <a:t>e</a:t>
            </a:r>
            <a:r>
              <a:rPr sz="1400" b="0" i="0">
                <a:solidFill>
                  <a:srgbClr val="333333"/>
                </a:solidFill>
                <a:latin typeface="Carlito"/>
              </a:rPr>
              <a:t>,  q′ = Q</a:t>
            </a:r>
            <a:r>
              <a:rPr sz="1400" b="0" i="0" baseline="-25000">
                <a:solidFill>
                  <a:srgbClr val="333333"/>
                </a:solidFill>
                <a:latin typeface="Carlito"/>
              </a:rPr>
              <a:t>i</a:t>
            </a:r>
            <a:r>
              <a:rPr sz="1400" b="0" i="0">
                <a:solidFill>
                  <a:srgbClr val="333333"/>
                </a:solidFill>
                <a:latin typeface="Carlito"/>
              </a:rPr>
              <a:t> − Q</a:t>
            </a:r>
            <a:r>
              <a:rPr sz="1400" b="0" i="0" baseline="-25000">
                <a:solidFill>
                  <a:srgbClr val="333333"/>
                </a:solidFill>
                <a:latin typeface="Carlito"/>
              </a:rPr>
              <a:t>e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005072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rlito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4059935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B03535"/>
                </a:solidFill>
                <a:latin typeface="Carlito"/>
              </a:rPr>
              <a:t>Laplace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4059935"/>
            <a:ext cx="400507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333333"/>
                </a:solidFill>
                <a:latin typeface="Carlito"/>
              </a:rPr>
              <a:t>H(s) = (1/A) / (s + K / (2A√h</a:t>
            </a:r>
            <a:r>
              <a:rPr sz="1400" b="0" i="0" baseline="-25000">
                <a:solidFill>
                  <a:srgbClr val="333333"/>
                </a:solidFill>
                <a:latin typeface="Carlito"/>
              </a:rPr>
              <a:t>e</a:t>
            </a:r>
            <a:r>
              <a:rPr sz="1400" b="0" i="0">
                <a:solidFill>
                  <a:srgbClr val="333333"/>
                </a:solidFill>
                <a:latin typeface="Carlito"/>
              </a:rPr>
              <a:t>))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791456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rlito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484632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B03535"/>
                </a:solidFill>
                <a:latin typeface="Carlito"/>
              </a:rPr>
              <a:t>Transformada inversa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4846320"/>
            <a:ext cx="400507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333333"/>
                </a:solidFill>
                <a:latin typeface="Carlito"/>
              </a:rPr>
              <a:t>Escalón de 2 m³/h en la entrada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1600200"/>
            <a:ext cx="3749039" cy="4023360"/>
          </a:xfrm>
          <a:prstGeom prst="roundRect">
            <a:avLst>
              <a:gd name="adj" fmla="val 4000"/>
            </a:avLst>
          </a:prstGeom>
          <a:solidFill>
            <a:srgbClr val="FBF1F1"/>
          </a:solidFill>
          <a:ln w="19050">
            <a:solidFill>
              <a:srgbClr val="B03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65008" y="1746504"/>
            <a:ext cx="33467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B03535"/>
                </a:solidFill>
                <a:latin typeface="Noto Serif"/>
              </a:rPr>
              <a:t>Resultado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65008" y="2194560"/>
            <a:ext cx="3346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B6B6B"/>
                </a:solidFill>
                <a:latin typeface="Carlito"/>
              </a:rPr>
              <a:t>Función de transferencia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65008" y="2487168"/>
            <a:ext cx="334670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F3864"/>
                </a:solidFill>
                <a:latin typeface="Carlito"/>
              </a:rPr>
              <a:t>H(s) = 0.1 / (s + 0.1)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65008" y="3291840"/>
            <a:ext cx="3346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B6B6B"/>
                </a:solidFill>
                <a:latin typeface="Carlito"/>
              </a:rPr>
              <a:t>Respuesta en el tiempo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65008" y="3584448"/>
            <a:ext cx="334670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F3864"/>
                </a:solidFill>
                <a:latin typeface="Carlito"/>
              </a:rPr>
              <a:t>h(t) = 5 + 2(1 − e</a:t>
            </a:r>
            <a:r>
              <a:rPr sz="2200" b="1" i="0" baseline="30000">
                <a:solidFill>
                  <a:srgbClr val="1F3864"/>
                </a:solidFill>
                <a:latin typeface="Carlito"/>
              </a:rPr>
              <a:t>−0.1t</a:t>
            </a:r>
            <a:r>
              <a:rPr sz="2200" b="1" i="0">
                <a:solidFill>
                  <a:srgbClr val="1F3864"/>
                </a:solidFill>
                <a:latin typeface="Carlito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65008" y="4434840"/>
            <a:ext cx="334670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400"/>
              </a:spcAft>
              <a:buChar char="•"/>
            </a:pPr>
            <a:r>
              <a:rPr sz="1400" b="0" i="0">
                <a:solidFill>
                  <a:srgbClr val="333333"/>
                </a:solidFill>
                <a:latin typeface="Carlito"/>
              </a:rPr>
              <a:t>Primer orden</a:t>
            </a:r>
          </a:p>
          <a:p>
            <a:pPr algn="l" marL="228600" indent="-228600">
              <a:spcAft>
                <a:spcPts val="400"/>
              </a:spcAft>
              <a:buChar char="•"/>
            </a:pPr>
            <a:r>
              <a:rPr sz="1400" b="0" i="0">
                <a:solidFill>
                  <a:srgbClr val="333333"/>
                </a:solidFill>
                <a:latin typeface="Carlito"/>
              </a:rPr>
              <a:t>Ganancia de 1 m por cada m³/h</a:t>
            </a:r>
          </a:p>
          <a:p>
            <a:pPr algn="l" marL="228600" indent="-228600">
              <a:spcAft>
                <a:spcPts val="400"/>
              </a:spcAft>
              <a:buChar char="•"/>
            </a:pPr>
            <a:r>
              <a:rPr sz="1400" b="0" i="0">
                <a:solidFill>
                  <a:srgbClr val="333333"/>
                </a:solidFill>
                <a:latin typeface="Carlito"/>
              </a:rPr>
              <a:t>τ = 10 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 spc="300">
                <a:solidFill>
                  <a:srgbClr val="1F3864"/>
                </a:solidFill>
                <a:latin typeface="Carlito"/>
              </a:rPr>
              <a:t>PARTE A · SIMULINK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B03535"/>
                </a:solidFill>
                <a:latin typeface="Noto Serif"/>
              </a:rPr>
              <a:t>Simulación en Simulink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9963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B6B6B"/>
                </a:solidFill>
                <a:latin typeface="Carlito"/>
              </a:rPr>
              <a:t>6</a:t>
            </a:r>
          </a:p>
        </p:txBody>
      </p:sp>
      <p:pic>
        <p:nvPicPr>
          <p:cNvPr id="5" name="Picture 4" descr="diagrama_bloques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858000" cy="3564952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528523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6B6B6B"/>
                </a:solidFill>
                <a:latin typeface="Carlito"/>
              </a:rPr>
              <a:t>Diagrama de bloques: 0 a 50 h, solucionador de paso variable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600200"/>
            <a:ext cx="3886200" cy="1874519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7848" y="1746504"/>
            <a:ext cx="34838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B03535"/>
                </a:solidFill>
                <a:latin typeface="Noto Serif"/>
              </a:rPr>
              <a:t>Rama superior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7848" y="2130552"/>
            <a:ext cx="3483864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333333"/>
                </a:solidFill>
                <a:latin typeface="Carlito"/>
              </a:rPr>
              <a:t>Ecuación diferencial no lineal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333333"/>
                </a:solidFill>
                <a:latin typeface="Carlito"/>
              </a:rPr>
              <a:t>Integrador con h(0) = 5 m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333333"/>
                </a:solidFill>
                <a:latin typeface="Carlito"/>
              </a:rPr>
              <a:t>Realimentación K · √h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3657600"/>
            <a:ext cx="3886200" cy="1874519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7848" y="3803904"/>
            <a:ext cx="34838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B03535"/>
                </a:solidFill>
                <a:latin typeface="Noto Serif"/>
              </a:rPr>
              <a:t>Rama inferior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7848" y="4187952"/>
            <a:ext cx="3483864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333333"/>
                </a:solidFill>
                <a:latin typeface="Carlito"/>
              </a:rPr>
              <a:t>Función de transferencia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333333"/>
                </a:solidFill>
                <a:latin typeface="Carlito"/>
              </a:rPr>
              <a:t>Entra la desviación Q</a:t>
            </a:r>
            <a:r>
              <a:rPr sz="1400" b="0" i="0" baseline="-25000">
                <a:solidFill>
                  <a:srgbClr val="333333"/>
                </a:solidFill>
                <a:latin typeface="Carlito"/>
              </a:rPr>
              <a:t>i</a:t>
            </a:r>
            <a:r>
              <a:rPr sz="1400" b="0" i="0">
                <a:solidFill>
                  <a:srgbClr val="333333"/>
                </a:solidFill>
                <a:latin typeface="Carlito"/>
              </a:rPr>
              <a:t> − 10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333333"/>
                </a:solidFill>
                <a:latin typeface="Carlito"/>
              </a:rPr>
              <a:t>A la salida se suman 5 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 spc="300">
                <a:solidFill>
                  <a:srgbClr val="1F3864"/>
                </a:solidFill>
                <a:latin typeface="Carlito"/>
              </a:rPr>
              <a:t>PARTE A ·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B03535"/>
                </a:solidFill>
                <a:latin typeface="Noto Serif"/>
              </a:rPr>
              <a:t>Tres respuestas, dos comportamientos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9963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B6B6B"/>
                </a:solidFill>
                <a:latin typeface="Carlito"/>
              </a:rPr>
              <a:t>7</a:t>
            </a:r>
          </a:p>
        </p:txBody>
      </p:sp>
      <p:pic>
        <p:nvPicPr>
          <p:cNvPr id="5" name="Picture 4" descr="scope_no_lineal_y_func_trans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5852160" cy="313425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4800600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6B6B6B"/>
                </a:solidFill>
                <a:latin typeface="Carlito"/>
              </a:rPr>
              <a:t>Scope: no lineal (amarillo) y función de transferencia (azul)</a:t>
            </a:r>
          </a:p>
        </p:txBody>
      </p:sp>
      <p:pic>
        <p:nvPicPr>
          <p:cNvPr id="7" name="Picture 6" descr="respuesta_analitica_matlab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1600200"/>
            <a:ext cx="4937760" cy="2147208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675120" y="381304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6B6B6B"/>
                </a:solidFill>
                <a:latin typeface="Carlito"/>
              </a:rPr>
              <a:t>MATLAB: h(t) analítica, 5 + 2(1 − e</a:t>
            </a:r>
            <a:r>
              <a:rPr sz="1100" b="0" i="1" baseline="30000">
                <a:solidFill>
                  <a:srgbClr val="6B6B6B"/>
                </a:solidFill>
                <a:latin typeface="Carlito"/>
              </a:rPr>
              <a:t>−0.1t</a:t>
            </a:r>
            <a:r>
              <a:rPr sz="1100" b="0" i="1">
                <a:solidFill>
                  <a:srgbClr val="6B6B6B"/>
                </a:solidFill>
                <a:latin typeface="Carlito"/>
              </a:rPr>
              <a:t>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4251960"/>
            <a:ext cx="4937760" cy="96012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76288" y="4398264"/>
            <a:ext cx="4535424" cy="7040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333333"/>
                </a:solidFill>
                <a:latin typeface="Carlito"/>
              </a:rPr>
              <a:t>H(s) y h(t) coinciden</a:t>
            </a:r>
            <a:r>
              <a:rPr sz="1400" b="0" i="0">
                <a:solidFill>
                  <a:srgbClr val="333333"/>
                </a:solidFill>
                <a:latin typeface="Carlito"/>
              </a:rPr>
              <a:t> entre sí.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333333"/>
                </a:solidFill>
                <a:latin typeface="Carlito"/>
              </a:rPr>
              <a:t>La </a:t>
            </a:r>
            <a:r>
              <a:rPr sz="1400" b="1" i="0">
                <a:solidFill>
                  <a:srgbClr val="333333"/>
                </a:solidFill>
                <a:latin typeface="Carlito"/>
              </a:rPr>
              <a:t>no lineal</a:t>
            </a:r>
            <a:r>
              <a:rPr sz="1400" b="0" i="0">
                <a:solidFill>
                  <a:srgbClr val="333333"/>
                </a:solidFill>
                <a:latin typeface="Carlito"/>
              </a:rPr>
              <a:t> se separa al subir el nivel.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 spc="300">
                <a:solidFill>
                  <a:srgbClr val="1F3864"/>
                </a:solidFill>
                <a:latin typeface="Carlito"/>
              </a:rPr>
              <a:t>PARTE A · ANÁLISIS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B03535"/>
                </a:solidFill>
                <a:latin typeface="Noto Serif"/>
              </a:rPr>
              <a:t>Dónde falla el modelo lineal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9963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B6B6B"/>
                </a:solidFill>
                <a:latin typeface="Carlito"/>
              </a:rPr>
              <a:t>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6309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7340"/>
                <a:gridCol w="1577340"/>
                <a:gridCol w="1577340"/>
                <a:gridCol w="157734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rlito"/>
                        </a:rPr>
                        <a:t>Tiempo (h)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rlito"/>
                        </a:rPr>
                        <a:t>No lineal (m)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rlito"/>
                        </a:rPr>
                        <a:t>Lineal (m)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rlito"/>
                        </a:rPr>
                        <a:t>Diferencia (m)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rlito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rlito"/>
                        </a:rPr>
                        <a:t>5.000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rlito"/>
                        </a:rPr>
                        <a:t>5.000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rlito"/>
                        </a:rPr>
                        <a:t>0.000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rlito"/>
                        </a:rPr>
                        <a:t>10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rlito"/>
                        </a:rPr>
                        <a:t>6.292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rlito"/>
                        </a:rPr>
                        <a:t>6.264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rlito"/>
                        </a:rPr>
                        <a:t>0.027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rlito"/>
                        </a:rP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rlito"/>
                        </a:rPr>
                        <a:t>6.816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rlito"/>
                        </a:rPr>
                        <a:t>6.729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rlito"/>
                        </a:rPr>
                        <a:t>0.087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rlito"/>
                        </a:rPr>
                        <a:t>30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rlito"/>
                        </a:rPr>
                        <a:t>7.038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rlito"/>
                        </a:rPr>
                        <a:t>6.900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rlito"/>
                        </a:rPr>
                        <a:t>0.138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rlito"/>
                        </a:rP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rlito"/>
                        </a:rPr>
                        <a:t>7.175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rlito"/>
                        </a:rPr>
                        <a:t>6.987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rlito"/>
                        </a:rPr>
                        <a:t>0.189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333333"/>
                          </a:solidFill>
                          <a:latin typeface="Carlito"/>
                        </a:rPr>
                        <a:t>Final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333333"/>
                          </a:solidFill>
                          <a:latin typeface="Carlito"/>
                        </a:rPr>
                        <a:t>7.207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333333"/>
                          </a:solidFill>
                          <a:latin typeface="Carlito"/>
                        </a:rPr>
                        <a:t>7.000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333333"/>
                          </a:solidFill>
                          <a:latin typeface="Carlito"/>
                        </a:rPr>
                        <a:t>0.207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029200"/>
            <a:ext cx="6309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1F3864"/>
                </a:solidFill>
                <a:latin typeface="Carlito"/>
              </a:rPr>
              <a:t>La válvula opone más resistencia al subir el nivel: el modelo lineal subestima el nivel final y la lentitud del proceso.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600200"/>
            <a:ext cx="4389120" cy="118872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52360" y="1783080"/>
            <a:ext cx="2011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F3864"/>
                </a:solidFill>
                <a:latin typeface="Noto Serif"/>
              </a:rPr>
              <a:t>7.21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1783080"/>
            <a:ext cx="2011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333333"/>
                </a:solidFill>
                <a:latin typeface="Carlito"/>
              </a:rPr>
              <a:t>Nivel final no lineal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2971800"/>
            <a:ext cx="4389120" cy="118872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0" y="3154680"/>
            <a:ext cx="2011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F3864"/>
                </a:solidFill>
                <a:latin typeface="Noto Serif"/>
              </a:rPr>
              <a:t>7.00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4040" y="3154680"/>
            <a:ext cx="2011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333333"/>
                </a:solidFill>
                <a:latin typeface="Carlito"/>
              </a:rPr>
              <a:t>Nivel final lineal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4343400"/>
            <a:ext cx="4389120" cy="1188720"/>
          </a:xfrm>
          <a:prstGeom prst="roundRect">
            <a:avLst>
              <a:gd name="adj" fmla="val 4000"/>
            </a:avLst>
          </a:prstGeom>
          <a:solidFill>
            <a:srgbClr val="FBF1F1"/>
          </a:solidFill>
          <a:ln w="19050">
            <a:solidFill>
              <a:srgbClr val="B03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52360" y="4526280"/>
            <a:ext cx="2011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B03535"/>
                </a:solidFill>
                <a:latin typeface="Noto Serif"/>
              </a:rPr>
              <a:t>0.21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64040" y="4526280"/>
            <a:ext cx="2011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333333"/>
                </a:solidFill>
                <a:latin typeface="Carlito"/>
              </a:rPr>
              <a:t>Diferencia: 2.9 % del nivel final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 spc="300">
                <a:solidFill>
                  <a:srgbClr val="1F3864"/>
                </a:solidFill>
                <a:latin typeface="Carlito"/>
              </a:rPr>
              <a:t>PARTE B · PROCESO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B03535"/>
                </a:solidFill>
                <a:latin typeface="Noto Serif"/>
              </a:rPr>
              <a:t>Simulación con superagente de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9963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B6B6B"/>
                </a:solidFill>
                <a:latin typeface="Carlito"/>
              </a:rP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600200" cy="50292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rlito"/>
              </a:rPr>
              <a:t>Análisis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8840" y="1645920"/>
            <a:ext cx="274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B03535"/>
                </a:solidFill>
                <a:latin typeface="Carlito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1645920"/>
            <a:ext cx="1600200" cy="50292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rlito"/>
              </a:rPr>
              <a:t>Contraste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645920"/>
            <a:ext cx="274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B03535"/>
                </a:solidFill>
                <a:latin typeface="Carlito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645920"/>
            <a:ext cx="1600200" cy="50292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rlito"/>
              </a:rPr>
              <a:t>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79" y="1645920"/>
            <a:ext cx="274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B03535"/>
                </a:solidFill>
                <a:latin typeface="Carlito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199" y="1645920"/>
            <a:ext cx="1600200" cy="50292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rlito"/>
              </a:rPr>
              <a:t>Generación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645920"/>
            <a:ext cx="274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B03535"/>
                </a:solidFill>
                <a:latin typeface="Carlito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645920"/>
            <a:ext cx="1600200" cy="50292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rlito"/>
              </a:rPr>
              <a:t>Validación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6919" y="1645920"/>
            <a:ext cx="274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B03535"/>
                </a:solidFill>
                <a:latin typeface="Carlito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21240" y="1645920"/>
            <a:ext cx="1600200" cy="50292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rlito"/>
              </a:rPr>
              <a:t>Despliegue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514600"/>
            <a:ext cx="5486400" cy="310896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660904"/>
            <a:ext cx="50840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B03535"/>
                </a:solidFill>
                <a:latin typeface="Noto Serif"/>
              </a:rPr>
              <a:t>Herramientas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044952"/>
            <a:ext cx="5084064" cy="2468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1400"/>
              </a:spcAft>
              <a:buChar char="•"/>
            </a:pPr>
            <a:r>
              <a:rPr sz="1600" b="1" i="0">
                <a:solidFill>
                  <a:srgbClr val="333333"/>
                </a:solidFill>
                <a:latin typeface="Carlito"/>
              </a:rPr>
              <a:t>Claude:</a:t>
            </a:r>
            <a:r>
              <a:rPr sz="1600" b="0" i="0">
                <a:solidFill>
                  <a:srgbClr val="333333"/>
                </a:solidFill>
                <a:latin typeface="Carlito"/>
              </a:rPr>
              <a:t> análisis del enunciado y plan</a:t>
            </a:r>
          </a:p>
          <a:p>
            <a:pPr algn="l" marL="228600" indent="-228600">
              <a:spcAft>
                <a:spcPts val="1400"/>
              </a:spcAft>
              <a:buChar char="•"/>
            </a:pPr>
            <a:r>
              <a:rPr sz="1600" b="1" i="0">
                <a:solidFill>
                  <a:srgbClr val="333333"/>
                </a:solidFill>
                <a:latin typeface="Carlito"/>
              </a:rPr>
              <a:t>v0:</a:t>
            </a:r>
            <a:r>
              <a:rPr sz="1600" b="0" i="0">
                <a:solidFill>
                  <a:srgbClr val="333333"/>
                </a:solidFill>
                <a:latin typeface="Carlito"/>
              </a:rPr>
              <a:t> genera el programa de simulación</a:t>
            </a:r>
          </a:p>
          <a:p>
            <a:pPr algn="l" marL="228600" indent="-228600">
              <a:spcAft>
                <a:spcPts val="1400"/>
              </a:spcAft>
              <a:buChar char="•"/>
            </a:pPr>
            <a:r>
              <a:rPr sz="1600" b="1" i="0">
                <a:solidFill>
                  <a:srgbClr val="333333"/>
                </a:solidFill>
                <a:latin typeface="Carlito"/>
              </a:rPr>
              <a:t>Agente local:</a:t>
            </a:r>
            <a:r>
              <a:rPr sz="1600" b="0" i="0">
                <a:solidFill>
                  <a:srgbClr val="333333"/>
                </a:solidFill>
                <a:latin typeface="Carlito"/>
              </a:rPr>
              <a:t> integra, valida y corrige</a:t>
            </a:r>
          </a:p>
          <a:p>
            <a:pPr algn="l" marL="228600" indent="-228600">
              <a:spcAft>
                <a:spcPts val="1400"/>
              </a:spcAft>
              <a:buChar char="•"/>
            </a:pPr>
            <a:r>
              <a:rPr sz="1600" b="1" i="0">
                <a:solidFill>
                  <a:srgbClr val="333333"/>
                </a:solidFill>
                <a:latin typeface="Carlito"/>
              </a:rPr>
              <a:t>Vercel:</a:t>
            </a:r>
            <a:r>
              <a:rPr sz="1600" b="0" i="0">
                <a:solidFill>
                  <a:srgbClr val="333333"/>
                </a:solidFill>
                <a:latin typeface="Carlito"/>
              </a:rPr>
              <a:t> publica el simulador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2514600"/>
            <a:ext cx="5303520" cy="3108960"/>
          </a:xfrm>
          <a:prstGeom prst="roundRect">
            <a:avLst>
              <a:gd name="adj" fmla="val 4000"/>
            </a:avLst>
          </a:prstGeom>
          <a:solidFill>
            <a:srgbClr val="FBF1F1"/>
          </a:solidFill>
          <a:ln w="19050">
            <a:solidFill>
              <a:srgbClr val="B03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2660904"/>
            <a:ext cx="490118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B03535"/>
                </a:solidFill>
                <a:latin typeface="Noto Serif"/>
              </a:rPr>
              <a:t>Un solo prompt para v0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108960"/>
            <a:ext cx="490118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33333"/>
                </a:solidFill>
                <a:latin typeface="Carlito"/>
              </a:rPr>
              <a:t>Física, parámetros, valores por defecto y requisitos de la interfaz.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33333"/>
                </a:solidFill>
                <a:latin typeface="Carlito"/>
              </a:rPr>
              <a:t>Las decisiones ya estaban tomadas, y por eso el resultado fue correcto.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4663440"/>
            <a:ext cx="1188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F3864"/>
                </a:solidFill>
                <a:latin typeface="Noto Serif"/>
              </a:rPr>
              <a:t>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4663440"/>
            <a:ext cx="3840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333333"/>
                </a:solidFill>
                <a:latin typeface="Carlito"/>
              </a:rPr>
              <a:t>prompts significativos documentados en el informe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 spc="300">
                <a:solidFill>
                  <a:srgbClr val="1F3864"/>
                </a:solidFill>
                <a:latin typeface="Carlito"/>
              </a:rPr>
              <a:t>PARTE B · INGENIERÍA INVERSA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B03535"/>
                </a:solidFill>
                <a:latin typeface="Noto Serif"/>
              </a:rPr>
              <a:t>Ingeniería inversa del simulador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9963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B6B6B"/>
                </a:solidFill>
                <a:latin typeface="Carlito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3520440" cy="20116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46504"/>
            <a:ext cx="31181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B03535"/>
                </a:solidFill>
                <a:latin typeface="Noto Serif"/>
              </a:rPr>
              <a:t>Arquitectura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130552"/>
            <a:ext cx="311810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333333"/>
                </a:solidFill>
                <a:latin typeface="Carlito"/>
              </a:rPr>
              <a:t>Next.js, React y TypeScript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333333"/>
                </a:solidFill>
                <a:latin typeface="Carlito"/>
              </a:rPr>
              <a:t>Sin servidor: todo en el navegador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333333"/>
                </a:solidFill>
                <a:latin typeface="Carlito"/>
              </a:rPr>
              <a:t>Cálculo separado de la interfaz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00200"/>
            <a:ext cx="3520440" cy="20116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746504"/>
            <a:ext cx="31181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B03535"/>
                </a:solidFill>
                <a:latin typeface="Noto Serif"/>
              </a:rPr>
              <a:t>Método numérico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130552"/>
            <a:ext cx="311810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333333"/>
                </a:solidFill>
                <a:latin typeface="Carlito"/>
              </a:rPr>
              <a:t>RK4 por defecto, o Euler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333333"/>
                </a:solidFill>
                <a:latin typeface="Carlito"/>
              </a:rPr>
              <a:t>Paso fijo de 0.05 h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333333"/>
                </a:solidFill>
                <a:latin typeface="Carlito"/>
              </a:rPr>
              <a:t>Resuelve todo y luego lo reproduce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00200"/>
            <a:ext cx="3474720" cy="20116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9328" y="1746504"/>
            <a:ext cx="30723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B03535"/>
                </a:solidFill>
                <a:latin typeface="Noto Serif"/>
              </a:rPr>
              <a:t>Tres curvas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8" y="2130552"/>
            <a:ext cx="307238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333333"/>
                </a:solidFill>
                <a:latin typeface="Carlito"/>
              </a:rPr>
              <a:t>No lineal: integrada y limitada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333333"/>
                </a:solidFill>
                <a:latin typeface="Carlito"/>
              </a:rPr>
              <a:t>Lineal: integrada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333333"/>
                </a:solidFill>
                <a:latin typeface="Carlito"/>
              </a:rPr>
              <a:t>Analítica: fórmula cerrada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86200"/>
            <a:ext cx="11064240" cy="1463040"/>
          </a:xfrm>
          <a:prstGeom prst="roundRect">
            <a:avLst>
              <a:gd name="adj" fmla="val 4000"/>
            </a:avLst>
          </a:prstGeom>
          <a:solidFill>
            <a:srgbClr val="FBF1F1"/>
          </a:solidFill>
          <a:ln w="19050">
            <a:solidFill>
              <a:srgbClr val="B03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032504"/>
            <a:ext cx="106619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B03535"/>
                </a:solidFill>
                <a:latin typeface="Noto Serif"/>
              </a:rPr>
              <a:t>Verificación contra la teoría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453128"/>
            <a:ext cx="1066190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333333"/>
                </a:solidFill>
                <a:latin typeface="Carlito"/>
              </a:rPr>
              <a:t>Ecuación (10), polo 0.1, τ = 10 h y equilibrio (Q/K)² coinciden con la teoría. Observaciones: el campo dischargeCoefficient guarda K, y el punto de operación está fijo en 5 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 spc="300">
                <a:solidFill>
                  <a:srgbClr val="1F3864"/>
                </a:solidFill>
                <a:latin typeface="Carlito"/>
              </a:rPr>
              <a:t>PARTE B · PROGRAMA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B03535"/>
                </a:solidFill>
                <a:latin typeface="Noto Serif"/>
              </a:rPr>
              <a:t>Programa de simulación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9963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B6B6B"/>
                </a:solidFill>
                <a:latin typeface="Carlito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6035040" cy="1188720"/>
          </a:xfrm>
          <a:prstGeom prst="roundRect">
            <a:avLst>
              <a:gd name="adj" fmla="val 4000"/>
            </a:avLst>
          </a:prstGeom>
          <a:solidFill>
            <a:srgbClr val="FBF1F1"/>
          </a:solidFill>
          <a:ln w="19050">
            <a:solidFill>
              <a:srgbClr val="B03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46504"/>
            <a:ext cx="56327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B03535"/>
                </a:solidFill>
                <a:latin typeface="Noto Serif"/>
              </a:rPr>
              <a:t>Enlace para ejecutarlo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148840"/>
            <a:ext cx="56327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F3864"/>
                </a:solidFill>
                <a:latin typeface="Carlito"/>
                <a:hlinkClick r:id="rId3"/>
              </a:rPr>
              <a:t>https://tanque-six.vercel.app/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384048" cy="384048"/>
          </a:xfrm>
          <a:prstGeom prst="ellipse">
            <a:avLst/>
          </a:prstGeom>
          <a:solidFill>
            <a:srgbClr val="B03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rlit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3163824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B03535"/>
                </a:solidFill>
                <a:latin typeface="Carlito"/>
              </a:rPr>
              <a:t>Ajustar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04288" y="3163824"/>
            <a:ext cx="42793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333333"/>
                </a:solidFill>
                <a:latin typeface="Carlito"/>
              </a:rPr>
              <a:t>A, K, H, h(0), caudal, escalón y horizonte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749039"/>
            <a:ext cx="384048" cy="384048"/>
          </a:xfrm>
          <a:prstGeom prst="ellipse">
            <a:avLst/>
          </a:prstGeom>
          <a:solidFill>
            <a:srgbClr val="B03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rlito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803903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B03535"/>
                </a:solidFill>
                <a:latin typeface="Carlito"/>
              </a:rPr>
              <a:t>Elegir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04288" y="3803903"/>
            <a:ext cx="42793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333333"/>
                </a:solidFill>
                <a:latin typeface="Carlito"/>
              </a:rPr>
              <a:t>Método RK4 o Euler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389120"/>
            <a:ext cx="384048" cy="384048"/>
          </a:xfrm>
          <a:prstGeom prst="ellipse">
            <a:avLst/>
          </a:prstGeom>
          <a:solidFill>
            <a:srgbClr val="B03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rlito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4443983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B03535"/>
                </a:solidFill>
                <a:latin typeface="Carlito"/>
              </a:rPr>
              <a:t>Ejecutar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04288" y="4443983"/>
            <a:ext cx="42793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333333"/>
                </a:solidFill>
                <a:latin typeface="Carlito"/>
              </a:rPr>
              <a:t>El tanque se llena de forma animada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5029200"/>
            <a:ext cx="384048" cy="384048"/>
          </a:xfrm>
          <a:prstGeom prst="ellipse">
            <a:avLst/>
          </a:prstGeom>
          <a:solidFill>
            <a:srgbClr val="B03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rlito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5084064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B03535"/>
                </a:solidFill>
                <a:latin typeface="Carlito"/>
              </a:rPr>
              <a:t>Comparar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5084064"/>
            <a:ext cx="42793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333333"/>
                </a:solidFill>
                <a:latin typeface="Carlito"/>
              </a:rPr>
              <a:t>No lineal, lineal y analítica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0" y="1600200"/>
            <a:ext cx="4663440" cy="402336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50607" y="1746504"/>
            <a:ext cx="42611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B03535"/>
                </a:solidFill>
                <a:latin typeface="Noto Serif"/>
              </a:rPr>
              <a:t>Qué muestra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0607" y="2130552"/>
            <a:ext cx="4261103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1400"/>
              </a:spcAft>
              <a:buChar char="•"/>
            </a:pPr>
            <a:r>
              <a:rPr sz="1500" b="0" i="0">
                <a:solidFill>
                  <a:srgbClr val="333333"/>
                </a:solidFill>
                <a:latin typeface="Carlito"/>
              </a:rPr>
              <a:t>Tanque con el nivel animado</a:t>
            </a:r>
          </a:p>
          <a:p>
            <a:pPr algn="l" marL="228600" indent="-228600">
              <a:spcAft>
                <a:spcPts val="1400"/>
              </a:spcAft>
              <a:buChar char="•"/>
            </a:pPr>
            <a:r>
              <a:rPr sz="1500" b="0" i="0">
                <a:solidFill>
                  <a:srgbClr val="333333"/>
                </a:solidFill>
                <a:latin typeface="Carlito"/>
              </a:rPr>
              <a:t>Gráfica con las tres curvas</a:t>
            </a:r>
          </a:p>
          <a:p>
            <a:pPr algn="l" marL="228600" indent="-228600">
              <a:spcAft>
                <a:spcPts val="1400"/>
              </a:spcAft>
              <a:buChar char="•"/>
            </a:pPr>
            <a:r>
              <a:rPr sz="1500" b="0" i="0">
                <a:solidFill>
                  <a:srgbClr val="333333"/>
                </a:solidFill>
                <a:latin typeface="Carlito"/>
              </a:rPr>
              <a:t>Ecuaciones y supuestos del modelo</a:t>
            </a:r>
          </a:p>
          <a:p>
            <a:pPr algn="l" marL="228600" indent="-228600">
              <a:spcAft>
                <a:spcPts val="1400"/>
              </a:spcAft>
              <a:buChar char="•"/>
            </a:pPr>
            <a:r>
              <a:rPr sz="1500" b="0" i="0">
                <a:solidFill>
                  <a:srgbClr val="333333"/>
                </a:solidFill>
                <a:latin typeface="Carlito"/>
              </a:rPr>
              <a:t>Insignia de equilibrio: con Q</a:t>
            </a:r>
            <a:r>
              <a:rPr sz="1500" b="0" i="0" baseline="-25000">
                <a:solidFill>
                  <a:srgbClr val="333333"/>
                </a:solidFill>
                <a:latin typeface="Carlito"/>
              </a:rPr>
              <a:t>i</a:t>
            </a:r>
            <a:r>
              <a:rPr sz="1500" b="0" i="0">
                <a:solidFill>
                  <a:srgbClr val="333333"/>
                </a:solidFill>
                <a:latin typeface="Carlito"/>
              </a:rPr>
              <a:t> = 10 el nivel converge a 5 m</a:t>
            </a:r>
          </a:p>
          <a:p>
            <a:pPr algn="l" marL="228600" indent="-228600">
              <a:spcAft>
                <a:spcPts val="1400"/>
              </a:spcAft>
              <a:buChar char="•"/>
            </a:pPr>
            <a:r>
              <a:rPr sz="1500" b="0" i="0">
                <a:solidFill>
                  <a:srgbClr val="333333"/>
                </a:solidFill>
                <a:latin typeface="Carlito"/>
              </a:rPr>
              <a:t>Nota sobre el error de linealización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 spc="300">
                <a:solidFill>
                  <a:srgbClr val="1F3864"/>
                </a:solidFill>
                <a:latin typeface="Carlito"/>
              </a:rP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B03535"/>
                </a:solidFill>
                <a:latin typeface="Noto Serif"/>
              </a:rP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9963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B6B6B"/>
                </a:solidFill>
                <a:latin typeface="Carlito"/>
              </a:rPr>
              <a:t>12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645920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rlit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645920"/>
            <a:ext cx="10241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rlito"/>
              </a:rPr>
              <a:t>El modelo es correcto y consistente: K = 4.47 da 10 m³/h a 5 m de nivel.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432304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rlito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432304"/>
            <a:ext cx="10241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rlito"/>
              </a:rPr>
              <a:t>H(s) = 0.1 / (s + 0.1): primer orden con τ = 10 h, y no 1 min.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18688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rlito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218688"/>
            <a:ext cx="10241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rlito"/>
              </a:rPr>
              <a:t>El modelo lineal sirve cerca de 5 m; lejos se queda corto: 7.00 frente a 7.21 m.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005072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rlito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005072"/>
            <a:ext cx="10241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rlito"/>
              </a:rPr>
              <a:t>El superagente acertó con un solo prompt porque las decisiones ya estaban tomadas.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791456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rlito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791456"/>
            <a:ext cx="10241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rlito"/>
              </a:rPr>
              <a:t>La ingeniería inversa confirmó que el código implementa la teoría.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4160520"/>
            <a:ext cx="94457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B03535"/>
                </a:solidFill>
                <a:latin typeface="Noto Serif"/>
              </a:rPr>
              <a:t>Gracias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937760"/>
            <a:ext cx="9445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 i="0">
                <a:solidFill>
                  <a:srgbClr val="1F3864"/>
                </a:solidFill>
                <a:latin typeface="Carlito"/>
              </a:rPr>
              <a:t>¿Preguntas?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394960"/>
            <a:ext cx="9445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F3864"/>
                </a:solidFill>
                <a:latin typeface="Carlito"/>
                <a:hlinkClick r:id="rId2"/>
              </a:rPr>
              <a:t>https://tanque-six.vercel.app/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16408</TotalTime>
  <Words>0</Words>
  <Application>Microsoft Office PowerPoint</Application>
  <PresentationFormat>Panorámica</PresentationFormat>
  <Paragraphs>0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Aramirezp</dc:creator>
  <cp:lastModifiedBy>Alfredo Ramirez Parra │ Yeyo</cp:lastModifiedBy>
  <cp:revision>2221</cp:revision>
  <cp:lastPrinted>2017-04-25T23:06:26Z</cp:lastPrinted>
  <dcterms:created xsi:type="dcterms:W3CDTF">2017-03-31T14:04:32Z</dcterms:created>
  <dcterms:modified xsi:type="dcterms:W3CDTF">2025-10-31T11:48:57Z</dcterms:modified>
</cp:coreProperties>
</file>